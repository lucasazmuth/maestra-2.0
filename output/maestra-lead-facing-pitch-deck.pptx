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d1e5d2e654eaf" /><Relationship Type="http://schemas.openxmlformats.org/officeDocument/2006/relationships/extended-properties" Target="/docProps/app.xml" Id="R9caeb7d12f4b44e9" /><Relationship Type="http://schemas.openxmlformats.org/officeDocument/2006/relationships/officeDocument" Target="/ppt/presentation.xml" Id="R63b380663f844d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27d81528ed4723"/>
  </p:sldMasterIdLst>
  <p:notesMasterIdLst>
    <p:notesMasterId xmlns:r="http://schemas.openxmlformats.org/officeDocument/2006/relationships" r:id="R5b7e73776c8f464c"/>
  </p:notesMasterIdLst>
  <p:sldIdLst>
    <p:sldId xmlns:r="http://schemas.openxmlformats.org/officeDocument/2006/relationships" id="256" r:id="R1337eac92ff643b3"/>
    <p:sldId xmlns:r="http://schemas.openxmlformats.org/officeDocument/2006/relationships" id="257" r:id="R4564ace3acaa4624"/>
    <p:sldId xmlns:r="http://schemas.openxmlformats.org/officeDocument/2006/relationships" id="258" r:id="R5314daec9f0949a6"/>
    <p:sldId xmlns:r="http://schemas.openxmlformats.org/officeDocument/2006/relationships" id="259" r:id="Rbbc46edb3b8f4be5"/>
    <p:sldId xmlns:r="http://schemas.openxmlformats.org/officeDocument/2006/relationships" id="260" r:id="R9c39061916cd4978"/>
    <p:sldId xmlns:r="http://schemas.openxmlformats.org/officeDocument/2006/relationships" id="261" r:id="R7d48a9cf2ae840cf"/>
    <p:sldId xmlns:r="http://schemas.openxmlformats.org/officeDocument/2006/relationships" id="262" r:id="R6302c1b50931425d"/>
    <p:sldId xmlns:r="http://schemas.openxmlformats.org/officeDocument/2006/relationships" id="263" r:id="Racd67037d1d7478b"/>
    <p:sldId xmlns:r="http://schemas.openxmlformats.org/officeDocument/2006/relationships" id="264" r:id="Racd674e25fa647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0b73a32e0d401e" /><Relationship Type="http://schemas.openxmlformats.org/officeDocument/2006/relationships/slideMaster" Target="/ppt/slideMasters/slideMaster1.xml" Id="Rb727d81528ed4723" /><Relationship Type="http://schemas.openxmlformats.org/officeDocument/2006/relationships/notesMaster" Target="/ppt/notesMasters/notesMaster1.xml" Id="R5b7e73776c8f464c" /><Relationship Type="http://schemas.openxmlformats.org/officeDocument/2006/relationships/presProps" Target="/ppt/presProps.xml" Id="R7cc3be7537044c90" /><Relationship Type="http://schemas.openxmlformats.org/officeDocument/2006/relationships/tableStyles" Target="/ppt/tableStyles.xml" Id="R047c1ec7969645b3" /><Relationship Type="http://schemas.openxmlformats.org/officeDocument/2006/relationships/slide" Target="/ppt/slides/slide1.xml" Id="R1337eac92ff643b3" /><Relationship Type="http://schemas.openxmlformats.org/officeDocument/2006/relationships/slide" Target="/ppt/slides/slide2.xml" Id="R4564ace3acaa4624" /><Relationship Type="http://schemas.openxmlformats.org/officeDocument/2006/relationships/slide" Target="/ppt/slides/slide3.xml" Id="R5314daec9f0949a6" /><Relationship Type="http://schemas.openxmlformats.org/officeDocument/2006/relationships/slide" Target="/ppt/slides/slide4.xml" Id="Rbbc46edb3b8f4be5" /><Relationship Type="http://schemas.openxmlformats.org/officeDocument/2006/relationships/slide" Target="/ppt/slides/slide5.xml" Id="R9c39061916cd4978" /><Relationship Type="http://schemas.openxmlformats.org/officeDocument/2006/relationships/slide" Target="/ppt/slides/slide6.xml" Id="R7d48a9cf2ae840cf" /><Relationship Type="http://schemas.openxmlformats.org/officeDocument/2006/relationships/slide" Target="/ppt/slides/slide7.xml" Id="R6302c1b50931425d" /><Relationship Type="http://schemas.openxmlformats.org/officeDocument/2006/relationships/slide" Target="/ppt/slides/slide8.xml" Id="Racd67037d1d7478b" /><Relationship Type="http://schemas.openxmlformats.org/officeDocument/2006/relationships/slide" Target="/ppt/slides/slide9.xml" Id="Racd674e25fa647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5a5513e7849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04e787f85e4c10" /><Relationship Type="http://schemas.openxmlformats.org/officeDocument/2006/relationships/notesMaster" Target="/ppt/notesMasters/notesMaster1.xml" Id="R101f0fb136c044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bf93fadaff4e45" /><Relationship Type="http://schemas.openxmlformats.org/officeDocument/2006/relationships/notesMaster" Target="/ppt/notesMasters/notesMaster1.xml" Id="Re0fc25d66bba4c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f65604c6994b3d" /><Relationship Type="http://schemas.openxmlformats.org/officeDocument/2006/relationships/notesMaster" Target="/ppt/notesMasters/notesMaster1.xml" Id="R1b02187d4e194e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c629d13d0343e5" /><Relationship Type="http://schemas.openxmlformats.org/officeDocument/2006/relationships/notesMaster" Target="/ppt/notesMasters/notesMaster1.xml" Id="R05543e840e7f47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d911e09a2443fb" /><Relationship Type="http://schemas.openxmlformats.org/officeDocument/2006/relationships/notesMaster" Target="/ppt/notesMasters/notesMaster1.xml" Id="R4b78ce8137b14c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6eb9f04c984ec0" /><Relationship Type="http://schemas.openxmlformats.org/officeDocument/2006/relationships/notesMaster" Target="/ppt/notesMasters/notesMaster1.xml" Id="R8c977253091442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d2c4418ed64e92" /><Relationship Type="http://schemas.openxmlformats.org/officeDocument/2006/relationships/notesMaster" Target="/ppt/notesMasters/notesMaster1.xml" Id="R7099368c0fc64c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06d51717b34069" /><Relationship Type="http://schemas.openxmlformats.org/officeDocument/2006/relationships/notesMaster" Target="/ppt/notesMasters/notesMaster1.xml" Id="R1232c8a4a0414c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6b3a70139340af" /><Relationship Type="http://schemas.openxmlformats.org/officeDocument/2006/relationships/notesMaster" Target="/ppt/notesMasters/notesMaster1.xml" Id="R9e66e545827245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a reunião com a promessa de valor para o cliente: desenvolvimento de artistas com método e continuidade.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public/brand/maestra-wordmark-light.png</a:t>
            </a:r>
          </a:p>
          <a:p xmlns:a="http://schemas.openxmlformats.org/drawingml/2006/main">
            <a:r>
              <a:t>- prints-registro-v2/02-maestra-manager/02-dashboard.png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abre a dor do lead, sem falar da operação interna do BD.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MODELO-DE-NEGOCIO.md, seção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a jornada como produto de valor para o lead, não como arquitetura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MODELO-DE-NEGOCIO.md, seções 3 e 4</a:t>
            </a:r>
          </a:p>
          <a:p xmlns:a="http://schemas.openxmlformats.org/drawingml/2006/main">
            <a:r>
              <a:t>- maestra-landing/src/pages/Home.tsx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o diagnóstico cria linguagem comum para priorização e acompanhamento.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docs/DIAGNOSTICO_REAL_V2.md, seções 1 e 2</a:t>
            </a:r>
          </a:p>
          <a:p xmlns:a="http://schemas.openxmlformats.org/drawingml/2006/main">
            <a:r>
              <a:t>- prints-registro-v2/01-diagnostico-real/03-resultado-perfil.png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conecta a experiência do artista ao valor operacional para o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MODELO-DE-NEGOCIO.md, seção 4</a:t>
            </a:r>
          </a:p>
          <a:p xmlns:a="http://schemas.openxmlformats.org/drawingml/2006/main">
            <a:r>
              <a:t>- maestra-landing/src/pages/Home.tsx</a:t>
            </a:r>
          </a:p>
          <a:p xmlns:a="http://schemas.openxmlformats.org/drawingml/2006/main">
            <a:r>
              <a:t>- prints-registro-v2/02-maestra-manager/03-planejamento.png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Reposicionar a IA como continuidade de acompanhamento, não como chatbot genérico.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docs/FREEMIUM-E-NYTA.md, seção 3</a:t>
            </a:r>
          </a:p>
          <a:p xmlns:a="http://schemas.openxmlformats.org/drawingml/2006/main">
            <a:r>
              <a:t>- prints-registro-v2/03-nyta/02-assistente-pro-aberta.png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os módulos operacionais como continuidade natural do diagnóstico e do plano.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MODELO-DE-NEGOCIO.md, seção 4</a:t>
            </a:r>
          </a:p>
          <a:p xmlns:a="http://schemas.openxmlformats.org/drawingml/2006/main">
            <a:r>
              <a:t>- prints-registro-v2/02-maestra-manager/04-plano-de-acao.png</a:t>
            </a:r>
          </a:p>
          <a:p xmlns:a="http://schemas.openxmlformats.org/drawingml/2006/main">
            <a:r>
              <a:t>- prints-registro-v2/02-maestra-manager/06-catalogo-lancamentos.png</a:t>
            </a:r>
          </a:p>
          <a:p xmlns:a="http://schemas.openxmlformats.org/drawingml/2006/main">
            <a:r>
              <a:t>- prints-registro-v2/02-maestra-manager/07-agenda.png</a:t>
            </a:r>
          </a:p>
          <a:p xmlns:a="http://schemas.openxmlformats.org/drawingml/2006/main">
            <a:r>
              <a:t>- prints-registro-v2/02-maestra-manager/08-equipe.png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este slide para levar a conversa a um desenho de piloto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MODELO-DE-NEGOCIO.md, seções 5 e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Fechar pedindo uma decisão prática, não apenas feedback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maestra-landing/src/config.ts</a:t>
            </a:r>
          </a:p>
          <a:p xmlns:a="http://schemas.openxmlformats.org/drawingml/2006/main">
            <a:r>
              <a:t>- prints-registro-v2/02-maestra-manager/01-artistas.png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d167d3c9548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dd4c53aec9465b" /><Relationship Type="http://schemas.openxmlformats.org/officeDocument/2006/relationships/slideLayout" Target="/ppt/slideLayouts/slideLayout1.xml" Id="R9bd6f5b8d91249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d6f5b8d91249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35246a2ed4dfd" /><Relationship Type="http://schemas.openxmlformats.org/officeDocument/2006/relationships/image" Target="/ppt/media/image.png" Id="R2a071617fae84292" /><Relationship Type="http://schemas.openxmlformats.org/officeDocument/2006/relationships/image" Target="/ppt/media/image2.png" Id="R5b6239bb7c614d8c" /><Relationship Type="http://schemas.openxmlformats.org/officeDocument/2006/relationships/notesSlide" Target="/ppt/notesSlides/notesSlide1.xml" Id="Re952fb0cfd2f41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75732dc284232" /><Relationship Type="http://schemas.openxmlformats.org/officeDocument/2006/relationships/notesSlide" Target="/ppt/notesSlides/notesSlide2.xml" Id="R6f5abc69996d4d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5caf060064fd0" /><Relationship Type="http://schemas.openxmlformats.org/officeDocument/2006/relationships/notesSlide" Target="/ppt/notesSlides/notesSlide3.xml" Id="R6e2bc0667ca3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224f6c92b4507" /><Relationship Type="http://schemas.openxmlformats.org/officeDocument/2006/relationships/image" Target="/ppt/media/image3.png" Id="R03c8595f47ee443b" /><Relationship Type="http://schemas.openxmlformats.org/officeDocument/2006/relationships/notesSlide" Target="/ppt/notesSlides/notesSlide4.xml" Id="R3d5b8f9b8d8f40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4eaba9f6a4d40" /><Relationship Type="http://schemas.openxmlformats.org/officeDocument/2006/relationships/image" Target="/ppt/media/image4.png" Id="R12c715434d3c410b" /><Relationship Type="http://schemas.openxmlformats.org/officeDocument/2006/relationships/notesSlide" Target="/ppt/notesSlides/notesSlide5.xml" Id="R210b214551c547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3d2625942411b" /><Relationship Type="http://schemas.openxmlformats.org/officeDocument/2006/relationships/image" Target="/ppt/media/image5.png" Id="R4b418f10b2904821" /><Relationship Type="http://schemas.openxmlformats.org/officeDocument/2006/relationships/notesSlide" Target="/ppt/notesSlides/notesSlide6.xml" Id="R22ec678826084f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4ffd2582e4498" /><Relationship Type="http://schemas.openxmlformats.org/officeDocument/2006/relationships/image" Target="/ppt/media/image6.png" Id="R41337507f0c84883" /><Relationship Type="http://schemas.openxmlformats.org/officeDocument/2006/relationships/image" Target="/ppt/media/image7.png" Id="Ra0648a3066454eb7" /><Relationship Type="http://schemas.openxmlformats.org/officeDocument/2006/relationships/image" Target="/ppt/media/image8.png" Id="R20a1170f44584386" /><Relationship Type="http://schemas.openxmlformats.org/officeDocument/2006/relationships/image" Target="/ppt/media/image9.png" Id="R22a4fda400a3439f" /><Relationship Type="http://schemas.openxmlformats.org/officeDocument/2006/relationships/notesSlide" Target="/ppt/notesSlides/notesSlide7.xml" Id="Rd1fdaa87fe8c48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e447d543e4b18" /><Relationship Type="http://schemas.openxmlformats.org/officeDocument/2006/relationships/notesSlide" Target="/ppt/notesSlides/notesSlide8.xml" Id="R55289954c47541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b7653c56641fb" /><Relationship Type="http://schemas.openxmlformats.org/officeDocument/2006/relationships/image" Target="/ppt/media/image10.png" Id="R528c89c98a514cf7" /><Relationship Type="http://schemas.openxmlformats.org/officeDocument/2006/relationships/image" Target="/ppt/media/image11.png" Id="Rb6f1be01f52c4241" /><Relationship Type="http://schemas.openxmlformats.org/officeDocument/2006/relationships/notesSlide" Target="/ppt/notesSlides/notesSlide9.xml" Id="R85e515f750e84b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71617fae84292"/>
          <a:stretch xmlns:a="http://schemas.openxmlformats.org/drawingml/2006/main"/>
        </p:blipFill>
        <p:spPr>
          <a:xfrm xmlns:a="http://schemas.openxmlformats.org/drawingml/2006/main">
            <a:off x="699182" y="685800"/>
            <a:ext cx="2830736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1C375-EFEB-4086-B91B-160004E9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143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EAF7F0"/>
                </a:solidFill>
              </a:defRPr>
            </a:pPr>
            <a:r>
              <a:rPr sz="3975" b="1">
                <a:solidFill>
                  <a:srgbClr val="EAF7F0"/>
                </a:solidFill>
              </a:rPr>
              <a:t>Desenvolva artistas com método, dados e acompanhamento contínuo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3E355-5F53-455A-9EF4-FA319AAA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53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9B2"/>
                </a:solidFill>
              </a:defRPr>
            </a:pPr>
            <a:r>
              <a:rPr sz="1800" b="0">
                <a:solidFill>
                  <a:srgbClr val="AAB9B2"/>
                </a:solidFill>
              </a:rPr>
              <a:t>Maestra combina diagnóstico de carreira, planejamento guiado por IA e gestão operacional para transformar intenção em plano de 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F4973-F507-47D7-B041-61FB52A8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239bb7c614d8c"/>
          <a:srcRect xmlns:a="http://schemas.openxmlformats.org/drawingml/2006/main" l="28027" t="0" r="280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104900"/>
            <a:ext cx="3333750" cy="42672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</p:spTree>
    <p:extLst>
      <p:ext uri="{BB962C8B-B14F-4D97-AF65-F5344CB8AC3E}">
        <p14:creationId xmlns:p14="http://schemas.microsoft.com/office/powerpoint/2010/main" val="1428132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B5A32-B15E-4A6B-8F0A-F8EE64F5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95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O desafio é acompanhar evolução, não apenas atrair artistas.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E420B-C0DA-457D-BB96-E154F050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9B2"/>
                </a:solidFill>
              </a:defRPr>
            </a:pPr>
            <a:r>
              <a:rPr sz="1425" b="0">
                <a:solidFill>
                  <a:srgbClr val="AAB9B2"/>
                </a:solidFill>
              </a:rPr>
              <a:t>Quando a base cresce, orientação individual vira gargalo e os planos se perdem entre ferramentas, conversas e planilhas.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4BE25-4EA0-4DF6-BD23-83902573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70842-7145-4195-8B82-17160A7E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955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7F0"/>
                </a:solidFill>
              </a:defRPr>
            </a:pPr>
            <a:r>
              <a:rPr sz="2250" b="1">
                <a:solidFill>
                  <a:srgbClr val="EAF7F0"/>
                </a:solidFill>
              </a:rPr>
              <a:t>Visibilidade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F59DB-A44D-4EB2-9D49-AE993BE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9B2"/>
                </a:solidFill>
              </a:defRPr>
            </a:pPr>
            <a:r>
              <a:rPr sz="1650" b="0">
                <a:solidFill>
                  <a:srgbClr val="AAB9B2"/>
                </a:solidFill>
              </a:rPr>
              <a:t>Entender em que estágio cada artista está e o que precisa destravar primeiro.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5CF3C-7DF1-4FCF-BE18-3A1B16AE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B9"/>
          </a:solidFill>
          <a:ln xmlns:a="http://schemas.openxmlformats.org/drawingml/2006/main" w="0">
            <a:solidFill>
              <a:srgbClr val="25D7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33B14-FA28-428D-90DD-4C1536AF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004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7F0"/>
                </a:solidFill>
              </a:defRPr>
            </a:pPr>
            <a:r>
              <a:rPr sz="2250" b="1">
                <a:solidFill>
                  <a:srgbClr val="EAF7F0"/>
                </a:solidFill>
              </a:rPr>
              <a:t>Prioridade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A526F-B74F-49A5-8E30-6E07615D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9B2"/>
                </a:solidFill>
              </a:defRPr>
            </a:pPr>
            <a:r>
              <a:rPr sz="1650" b="0">
                <a:solidFill>
                  <a:srgbClr val="AAB9B2"/>
                </a:solidFill>
              </a:rPr>
              <a:t>Transformar diagnóstico em ações concretas, com foco no próximo ciclo de carreira.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F3A35-3BBE-435F-9522-598A1DEF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7197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6B"/>
          </a:solidFill>
          <a:ln xmlns:a="http://schemas.openxmlformats.org/drawingml/2006/main" w="0">
            <a:solidFill>
              <a:srgbClr val="B7F6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8399B-838A-41C3-BA60-E2359710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053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7F0"/>
                </a:solidFill>
              </a:defRPr>
            </a:pPr>
            <a:r>
              <a:rPr sz="2250" b="1">
                <a:solidFill>
                  <a:srgbClr val="EAF7F0"/>
                </a:solidFill>
              </a:rPr>
              <a:t>Ritmo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BADB3-E4C9-40EF-B370-0B414607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9B2"/>
                </a:solidFill>
              </a:defRPr>
            </a:pPr>
            <a:r>
              <a:rPr sz="1650" b="0">
                <a:solidFill>
                  <a:srgbClr val="AAB9B2"/>
                </a:solidFill>
              </a:rPr>
              <a:t>Manter uma cadência de execução sem depender de consultoria manual em cada interação.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F8EC3-5C4D-4734-829A-F08B37F7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47D"/>
                </a:solidFill>
              </a:defRPr>
            </a:pPr>
            <a:r>
              <a:rPr sz="900" b="1">
                <a:solidFill>
                  <a:srgbClr val="71847D"/>
                </a:solidFill>
              </a:rPr>
              <a:t>Maestra 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E4D6D-C4EB-4E8F-A037-38743D04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47D"/>
                </a:solidFill>
              </a:defRPr>
            </a:pPr>
            <a:r>
              <a:rPr sz="1050" b="0">
                <a:solidFill>
                  <a:srgbClr val="71847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1486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803F2-9B38-49CF-97B8-C496FCD3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95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A Maestra entrega uma jornada completa para cada artista.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92C9D-E3E8-431A-B23D-B57C4BA8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9B2"/>
                </a:solidFill>
              </a:defRPr>
            </a:pPr>
            <a:r>
              <a:rPr sz="1425" b="0">
                <a:solidFill>
                  <a:srgbClr val="AAB9B2"/>
                </a:solidFill>
              </a:rPr>
              <a:t>Do primeiro diagnóstico ao acompanhamento diário, tudo fica conectado em um mesmo ambiente.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EFD0B-BFE2-43A7-86B7-ED24ED47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37186-1874-4276-B9F1-F3445686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50707"/>
                </a:solidFill>
              </a:defRPr>
            </a:pPr>
            <a:r>
              <a:rPr sz="2400" b="1">
                <a:solidFill>
                  <a:srgbClr val="050707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21E88-48D7-4D2B-88A5-7223B956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AF7F0"/>
                </a:solidFill>
              </a:defRPr>
            </a:pPr>
            <a:r>
              <a:rPr sz="1950" b="1">
                <a:solidFill>
                  <a:srgbClr val="EAF7F0"/>
                </a:solidFill>
              </a:rPr>
              <a:t>Diagnóstico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67538-BF4E-45A6-8B63-1216BAC9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AB9B2"/>
                </a:solidFill>
              </a:defRPr>
            </a:pPr>
            <a:r>
              <a:rPr sz="1425" b="0">
                <a:solidFill>
                  <a:srgbClr val="AAB9B2"/>
                </a:solidFill>
              </a:rPr>
              <a:t>Leitura inicial da carreira em alcance, receita, audiência e legitimidade.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700AB-0CE8-4501-9EB1-8DF47DAA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BEE86-FD3C-42FC-A43E-C0948BE9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50707"/>
                </a:solidFill>
              </a:defRPr>
            </a:pPr>
            <a:r>
              <a:rPr sz="2400" b="1">
                <a:solidFill>
                  <a:srgbClr val="050707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D1653-5185-4506-AF4E-92527D22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909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AF7F0"/>
                </a:solidFill>
              </a:defRPr>
            </a:pPr>
            <a:r>
              <a:rPr sz="1950" b="1">
                <a:solidFill>
                  <a:srgbClr val="EAF7F0"/>
                </a:solidFill>
              </a:rPr>
              <a:t>Plano guiado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7F52A-4644-4A91-8A61-8D4A1167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052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AB9B2"/>
                </a:solidFill>
              </a:defRPr>
            </a:pPr>
            <a:r>
              <a:rPr sz="1425" b="0">
                <a:solidFill>
                  <a:srgbClr val="AAB9B2"/>
                </a:solidFill>
              </a:rPr>
              <a:t>Objetivos, SWOT, estratégias, prioridades e cronograma em linguagem simples.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8D749-EC74-4036-A069-3D94EA5A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526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CF8B0-8B4F-44B8-B606-CE523D0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83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50707"/>
                </a:solidFill>
              </a:defRPr>
            </a:pPr>
            <a:r>
              <a:rPr sz="2400" b="1">
                <a:solidFill>
                  <a:srgbClr val="050707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DAA22-4444-40E7-BAB6-55616D2A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AF7F0"/>
                </a:solidFill>
              </a:defRPr>
            </a:pPr>
            <a:r>
              <a:rPr sz="1950" b="1">
                <a:solidFill>
                  <a:srgbClr val="EAF7F0"/>
                </a:solidFill>
              </a:rPr>
              <a:t>Execução assistida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E5DC9-73EF-4008-B3CA-196ADCD2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052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AB9B2"/>
                </a:solidFill>
              </a:defRPr>
            </a:pPr>
            <a:r>
              <a:rPr sz="1425" b="0">
                <a:solidFill>
                  <a:srgbClr val="AAB9B2"/>
                </a:solidFill>
              </a:rPr>
              <a:t>Tarefas, agenda, catálogo, equipe e apoio da Nyta IA no dia a dia.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8D8AF-1A59-49F3-96ED-3A46DA8A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816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AB9B2"/>
                </a:solidFill>
              </a:defRPr>
            </a:pPr>
            <a:r>
              <a:rPr sz="1575" b="0">
                <a:solidFill>
                  <a:srgbClr val="AAB9B2"/>
                </a:solidFill>
              </a:rPr>
              <a:t>Resultado: sua organização acompanha uma trilha consistente, enquanto o artista recebe orientação prática.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36D31-CB12-48C5-A92D-8DDA6860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47D"/>
                </a:solidFill>
              </a:defRPr>
            </a:pPr>
            <a:r>
              <a:rPr sz="900" b="1">
                <a:solidFill>
                  <a:srgbClr val="71847D"/>
                </a:solidFill>
              </a:rPr>
              <a:t>Maestra Manager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1B9F6-2528-4FA2-B532-1C61C92A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47D"/>
                </a:solidFill>
              </a:defRPr>
            </a:pPr>
            <a:r>
              <a:rPr sz="1050" b="0">
                <a:solidFill>
                  <a:srgbClr val="71847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9952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90635-6313-4A3E-ABC5-5E47112F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95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O Diagnóstico REAL cria uma base comum para decidir o próximo passo.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C7356-9063-4B6B-9DFA-D788CABC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9B2"/>
                </a:solidFill>
              </a:defRPr>
            </a:pPr>
            <a:r>
              <a:rPr sz="1425" b="0">
                <a:solidFill>
                  <a:srgbClr val="AAB9B2"/>
                </a:solidFill>
              </a:rPr>
              <a:t>O artista entende onde está. Sua equipe entende onde apoiar.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8595f47ee443b"/>
          <a:srcRect xmlns:a="http://schemas.openxmlformats.org/drawingml/2006/main" l="864" t="0" r="8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924050"/>
            <a:ext cx="5657850" cy="323850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43A38-CFFD-4552-9DC4-4F9AD2F6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574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AF7F0"/>
                </a:solidFill>
              </a:defRPr>
            </a:pPr>
            <a:r>
              <a:rPr sz="2325" b="1">
                <a:solidFill>
                  <a:srgbClr val="EAF7F0"/>
                </a:solidFill>
              </a:rPr>
              <a:t>Quatro dimensões acionáveis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1F63B-A8BC-42C3-8FA3-11F2347D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942A6-6733-4D59-86E9-1386F783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956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Alcance e descoberta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81410-461B-4422-9F10-850450AB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05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B9"/>
          </a:solidFill>
          <a:ln xmlns:a="http://schemas.openxmlformats.org/drawingml/2006/main" w="0">
            <a:solidFill>
              <a:srgbClr val="25D7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72626-DF7B-49CF-AC3B-500F5D4F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Sinais de monetização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CA540-9B1C-4313-8365-D5CA81A6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66B"/>
          </a:solidFill>
          <a:ln xmlns:a="http://schemas.openxmlformats.org/drawingml/2006/main" w="0">
            <a:solidFill>
              <a:srgbClr val="B7F6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15F59-3C2A-475B-B313-77EEBE67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243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Audiência e engajamento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BBBB2-0094-4923-89DD-460C80CF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DF86E-2937-40FE-8EEF-C6023837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386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Legitimidade de mercado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5A59B-A1BF-427E-A725-A07EF99F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47D"/>
                </a:solidFill>
              </a:defRPr>
            </a:pPr>
            <a:r>
              <a:rPr sz="900" b="1">
                <a:solidFill>
                  <a:srgbClr val="71847D"/>
                </a:solidFill>
              </a:rPr>
              <a:t>Maestra 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5835A-3558-411F-B424-F0D3A49E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47D"/>
                </a:solidFill>
              </a:defRPr>
            </a:pPr>
            <a:r>
              <a:rPr sz="1050" b="0">
                <a:solidFill>
                  <a:srgbClr val="71847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51437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EBE2F-6B91-408A-8EA2-BA453481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95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O plano sai pronto para execução, não fica parado como relatório.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345CD-131D-48BA-9650-62C114F3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9B2"/>
                </a:solidFill>
              </a:defRPr>
            </a:pPr>
            <a:r>
              <a:rPr sz="1425" b="0">
                <a:solidFill>
                  <a:srgbClr val="AAB9B2"/>
                </a:solidFill>
              </a:rPr>
              <a:t>A Maestra conduz o raciocínio estratégico e transforma respostas em tarefas, prazos e prioridades.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715434d3c410b"/>
          <a:srcRect xmlns:a="http://schemas.openxmlformats.org/drawingml/2006/main" l="12333" t="0" r="12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1809750"/>
            <a:ext cx="4286250" cy="3200400"/>
          </a:xfrm>
          <a:prstGeom xmlns:a="http://schemas.openxmlformats.org/drawingml/2006/main" prst="roundRect">
            <a:avLst>
              <a:gd name="adj" fmla="val 595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1B77D-89B3-4FF2-AC59-145A9020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1F2A6"/>
                </a:solidFill>
              </a:defRPr>
            </a:pPr>
            <a:r>
              <a:rPr sz="2100" b="1">
                <a:solidFill>
                  <a:srgbClr val="71F2A6"/>
                </a:solidFill>
              </a:rPr>
              <a:t>Para o artista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36EE9-116C-4735-96F9-1AFA3953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AC6F4-8218-4CEA-9B57-5E13E209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Clareza sobre objetivos, posicionamento e próximos passos.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26BB9-D24E-4928-B1EB-179E7573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D7B9"/>
                </a:solidFill>
              </a:defRPr>
            </a:pPr>
            <a:r>
              <a:rPr sz="2100" b="1">
                <a:solidFill>
                  <a:srgbClr val="25D7B9"/>
                </a:solidFill>
              </a:rPr>
              <a:t>Para sua organização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A6278-70FB-4B8B-BC48-F9E18104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B9"/>
          </a:solidFill>
          <a:ln xmlns:a="http://schemas.openxmlformats.org/drawingml/2006/main" w="0">
            <a:solidFill>
              <a:srgbClr val="25D7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37B36-1C68-48B3-8F3D-2AFC85C1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Uma visão estruturada do que cada artista precisa para evoluir.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82EC4-A7D8-4061-B1AB-207277CC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47D"/>
                </a:solidFill>
              </a:defRPr>
            </a:pPr>
            <a:r>
              <a:rPr sz="900" b="1">
                <a:solidFill>
                  <a:srgbClr val="71847D"/>
                </a:solidFill>
              </a:rPr>
              <a:t>Maestra 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E11AC-1743-4D49-851F-9302CF7B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47D"/>
                </a:solidFill>
              </a:defRPr>
            </a:pPr>
            <a:r>
              <a:rPr sz="1050" b="0">
                <a:solidFill>
                  <a:srgbClr val="71847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6924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D5054-7151-4E8E-BE29-788F4C22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95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Nyta IA mantém o plano vivo entre uma reunião e outra.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67DC7-A1DA-4210-A6F6-E24C30DC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9B2"/>
                </a:solidFill>
              </a:defRPr>
            </a:pPr>
            <a:r>
              <a:rPr sz="1425" b="0">
                <a:solidFill>
                  <a:srgbClr val="AAB9B2"/>
                </a:solidFill>
              </a:rPr>
              <a:t>A assistente trabalha com o contexto do perfil, do planejamento e da rotina do artista.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18f10b2904821"/>
          <a:srcRect xmlns:a="http://schemas.openxmlformats.org/drawingml/2006/main" l="9481" t="0" r="94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1885950"/>
            <a:ext cx="4857750" cy="3371850"/>
          </a:xfrm>
          <a:prstGeom xmlns:a="http://schemas.openxmlformats.org/drawingml/2006/main" prst="roundRect">
            <a:avLst>
              <a:gd name="adj" fmla="val 565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91CE4-0556-4FAF-BF20-62A49871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7F0"/>
                </a:solidFill>
              </a:defRPr>
            </a:pPr>
            <a:r>
              <a:rPr sz="2250" b="1">
                <a:solidFill>
                  <a:srgbClr val="EAF7F0"/>
                </a:solidFill>
              </a:rPr>
              <a:t>Apoio recorrente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F9E75-DE6F-4611-9332-A6B0EE6C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BDE3A-1C76-4867-9CAF-9B81A607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95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Responde dúvidas com base no contexto da carreira.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FF124-D16A-47E7-A4B3-2FC335E0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B9"/>
          </a:solidFill>
          <a:ln xmlns:a="http://schemas.openxmlformats.org/drawingml/2006/main" w="0">
            <a:solidFill>
              <a:srgbClr val="25D7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73130-AF04-49F8-A4ED-10F92115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480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Sugere caminhos de marketing, gestão e execução.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10639-BD65-4A83-8037-BDFF5A6F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95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66B"/>
          </a:solidFill>
          <a:ln xmlns:a="http://schemas.openxmlformats.org/drawingml/2006/main" w="0">
            <a:solidFill>
              <a:srgbClr val="B7F6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0E94D-9E61-4BFE-8724-6B7C0C42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Ajuda a criar tarefas, eventos e itens de catálogo.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500D7-9CC8-41A7-A35F-E2BB1226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47D"/>
                </a:solidFill>
              </a:defRPr>
            </a:pPr>
            <a:r>
              <a:rPr sz="900" b="1">
                <a:solidFill>
                  <a:srgbClr val="71847D"/>
                </a:solidFill>
              </a:rPr>
              <a:t>Maestra 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0DBB1-DCFC-4400-AAEF-9BFD471C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47D"/>
                </a:solidFill>
              </a:defRPr>
            </a:pPr>
            <a:r>
              <a:rPr sz="1050" b="0">
                <a:solidFill>
                  <a:srgbClr val="71847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10776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45FDF-4717-4EF6-B3D2-EAD2F0BF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95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Sua equipe ganha uma visão única da operação do artista.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B2D06-0009-4177-8960-F0438508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9B2"/>
                </a:solidFill>
              </a:defRPr>
            </a:pPr>
            <a:r>
              <a:rPr sz="1425" b="0">
                <a:solidFill>
                  <a:srgbClr val="AAB9B2"/>
                </a:solidFill>
              </a:rPr>
              <a:t>Catálogo, agenda, equipe e plano de ação ficam no mesmo lugar para reduzir dispersão e aumentar cadência.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37507f0c84883"/>
          <a:srcRect xmlns:a="http://schemas.openxmlformats.org/drawingml/2006/main" l="10556" t="0" r="10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152650"/>
            <a:ext cx="2190750" cy="1562100"/>
          </a:xfrm>
          <a:prstGeom xmlns:a="http://schemas.openxmlformats.org/drawingml/2006/main" prst="roundRect">
            <a:avLst>
              <a:gd name="adj" fmla="val 1219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8F40B-1C69-4945-978A-6335277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7F0"/>
                </a:solidFill>
              </a:defRPr>
            </a:pPr>
            <a:r>
              <a:rPr sz="1650" b="1">
                <a:solidFill>
                  <a:srgbClr val="EAF7F0"/>
                </a:solidFill>
              </a:rPr>
              <a:t>Plano de ação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48a3066454eb7"/>
          <a:srcRect xmlns:a="http://schemas.openxmlformats.org/drawingml/2006/main" l="10556" t="0" r="10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00450" y="2152650"/>
            <a:ext cx="2190750" cy="1562100"/>
          </a:xfrm>
          <a:prstGeom xmlns:a="http://schemas.openxmlformats.org/drawingml/2006/main" prst="roundRect">
            <a:avLst>
              <a:gd name="adj" fmla="val 1219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748D1-3660-4342-8C73-9AD4F353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43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7F0"/>
                </a:solidFill>
              </a:defRPr>
            </a:pPr>
            <a:r>
              <a:rPr sz="1650" b="1">
                <a:solidFill>
                  <a:srgbClr val="EAF7F0"/>
                </a:solidFill>
              </a:rPr>
              <a:t>Catálogo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1170f44584386"/>
          <a:srcRect xmlns:a="http://schemas.openxmlformats.org/drawingml/2006/main" l="10556" t="0" r="10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152650"/>
            <a:ext cx="2190750" cy="1562100"/>
          </a:xfrm>
          <a:prstGeom xmlns:a="http://schemas.openxmlformats.org/drawingml/2006/main" prst="roundRect">
            <a:avLst>
              <a:gd name="adj" fmla="val 1219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A9138-C566-4675-B19E-9EE68683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7F0"/>
                </a:solidFill>
              </a:defRPr>
            </a:pPr>
            <a:r>
              <a:rPr sz="1650" b="1">
                <a:solidFill>
                  <a:srgbClr val="EAF7F0"/>
                </a:solidFill>
              </a:rPr>
              <a:t>Agenda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4fda400a3439f"/>
          <a:srcRect xmlns:a="http://schemas.openxmlformats.org/drawingml/2006/main" l="10556" t="0" r="10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9250" y="2152650"/>
            <a:ext cx="2190750" cy="1562100"/>
          </a:xfrm>
          <a:prstGeom xmlns:a="http://schemas.openxmlformats.org/drawingml/2006/main" prst="roundRect">
            <a:avLst>
              <a:gd name="adj" fmla="val 1219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642DF-7A6E-44D9-8AC1-0E9386B2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7F0"/>
                </a:solidFill>
              </a:defRPr>
            </a:pPr>
            <a:r>
              <a:rPr sz="1650" b="1">
                <a:solidFill>
                  <a:srgbClr val="EAF7F0"/>
                </a:solidFill>
              </a:rPr>
              <a:t>Equipe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64EB6-18F1-4EB1-B454-E0356E6D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9B2"/>
                </a:solidFill>
              </a:defRPr>
            </a:pPr>
            <a:r>
              <a:rPr sz="1725" b="0">
                <a:solidFill>
                  <a:srgbClr val="AAB9B2"/>
                </a:solidFill>
              </a:rPr>
              <a:t>Em vez de uma entrega pontual, a parceria vira um sistema de acompanhamento contínuo.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4CA89-7B5B-4FC2-9057-794D9CD4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47D"/>
                </a:solidFill>
              </a:defRPr>
            </a:pPr>
            <a:r>
              <a:rPr sz="900" b="1">
                <a:solidFill>
                  <a:srgbClr val="71847D"/>
                </a:solidFill>
              </a:rPr>
              <a:t>Maestra 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AB726-866B-4CF9-9095-19D0734B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47D"/>
                </a:solidFill>
              </a:defRPr>
            </a:pPr>
            <a:r>
              <a:rPr sz="1050" b="0">
                <a:solidFill>
                  <a:srgbClr val="71847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28112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894A7-9E99-466F-A9C6-AE5A09C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95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Um piloto pode provar valor sem exigir uma grande implantação.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7D4B2-F42C-4897-A7C9-DE1D5916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9B2"/>
                </a:solidFill>
              </a:defRPr>
            </a:pPr>
            <a:r>
              <a:rPr sz="1425" b="0">
                <a:solidFill>
                  <a:srgbClr val="AAB9B2"/>
                </a:solidFill>
              </a:rPr>
              <a:t>Começamos com um recorte controlado, acompanhamos uso e decidimos a próxima escala com evidência.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0A111-64ED-44E9-A8FA-3B524D9E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266950" cy="1885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219"/>
          </a:solidFill>
          <a:ln xmlns:a="http://schemas.openxmlformats.org/drawingml/2006/main" w="9525">
            <a:solidFill>
              <a:srgbClr val="2C40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C39EA-F7F7-4E10-B580-45E39410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1F2A6"/>
                </a:solidFill>
              </a:defRPr>
            </a:pPr>
            <a:r>
              <a:rPr sz="1875" b="1">
                <a:solidFill>
                  <a:srgbClr val="71F2A6"/>
                </a:solidFill>
              </a:rPr>
              <a:t>Recorte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1FDE8-E9FC-49A9-B537-014DCEFE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Selecionar uma turma, roster ou comunidade inicial.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7D852-774D-4734-9362-6B36603C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266950" cy="1885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2C40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45670-3165-44E3-9E05-457CC2A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D7B9"/>
                </a:solidFill>
              </a:defRPr>
            </a:pPr>
            <a:r>
              <a:rPr sz="1875" b="1">
                <a:solidFill>
                  <a:srgbClr val="25D7B9"/>
                </a:solidFill>
              </a:rPr>
              <a:t>Ativação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201D2-5D69-4D7C-A6D0-519DF7B4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6705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Artistas fazem diagnóstico e primeiro plano guiado.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8F67A-0913-4548-BDC9-F7CE952D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2266950" cy="1885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2C4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CDEF3-FF86-40DC-BDF7-B0A6F34B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F66B"/>
                </a:solidFill>
              </a:defRPr>
            </a:pPr>
            <a:r>
              <a:rPr sz="1875" b="1">
                <a:solidFill>
                  <a:srgbClr val="B7F66B"/>
                </a:solidFill>
              </a:rPr>
              <a:t>Acompanhamento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4EB30-B67D-4E49-8B31-1FA05D57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Observar adesão, tarefas criadas e uso recorrente.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407B7-F39F-497C-B662-6EEB2709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09800"/>
            <a:ext cx="2266950" cy="1885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2C4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3CBA1-7FE8-4A2C-8895-A53E6DEC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Escala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D1AC4-2952-41BF-9B7C-8A61DBA2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Definir modelo de continuidade com base nos aprendizados.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26DFA-822E-4E6A-B34F-38DE5056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62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AB9B2"/>
                </a:solidFill>
              </a:defRPr>
            </a:pPr>
            <a:r>
              <a:rPr sz="1500" b="0">
                <a:solidFill>
                  <a:srgbClr val="AAB9B2"/>
                </a:solidFill>
              </a:rPr>
              <a:t>O piloto pode ser ajustado ao seu contexto: distribuição, label, aceleração, comunidade, educação ou programa de desenvolvimento artístico.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CC717-31B5-42BC-A2FC-74FC768B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47D"/>
                </a:solidFill>
              </a:defRPr>
            </a:pPr>
            <a:r>
              <a:rPr sz="900" b="1">
                <a:solidFill>
                  <a:srgbClr val="71847D"/>
                </a:solidFill>
              </a:rPr>
              <a:t>Maestra Manager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4CCD9-74A4-40E2-A9CF-665E4B79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47D"/>
                </a:solidFill>
              </a:defRPr>
            </a:pPr>
            <a:r>
              <a:rPr sz="1050" b="0">
                <a:solidFill>
                  <a:srgbClr val="71847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582556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c89c98a514cf7"/>
          <a:stretch xmlns:a="http://schemas.openxmlformats.org/drawingml/2006/main"/>
        </p:blipFill>
        <p:spPr>
          <a:xfrm xmlns:a="http://schemas.openxmlformats.org/drawingml/2006/main">
            <a:off x="685800" y="692022"/>
            <a:ext cx="2571750" cy="50190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7D06C-6F3C-4E20-B5F7-6C7589F6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AF7F0"/>
                </a:solidFill>
              </a:defRPr>
            </a:pPr>
            <a:r>
              <a:rPr sz="3900" b="1">
                <a:solidFill>
                  <a:srgbClr val="EAF7F0"/>
                </a:solidFill>
              </a:rPr>
              <a:t>Vamos desenhar o piloto?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39A4F-2F14-474C-8B4D-893B8693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9B2"/>
                </a:solidFill>
              </a:defRPr>
            </a:pPr>
            <a:r>
              <a:rPr sz="1800" b="0">
                <a:solidFill>
                  <a:srgbClr val="AAB9B2"/>
                </a:solidFill>
              </a:rPr>
              <a:t>Três decisões já colocam a parceria em movimento: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67B91-4000-43C8-A070-3A8D3190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F4073-88B8-48F2-AB05-E4C180A4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Qual grupo de artistas entra primeiro?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D3951-BA82-4569-B3AB-BF41E3D0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B9"/>
          </a:solidFill>
          <a:ln xmlns:a="http://schemas.openxmlformats.org/drawingml/2006/main" w="0">
            <a:solidFill>
              <a:srgbClr val="25D7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7B9DD-7F8D-4206-B551-C7393A5E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Que evolução queremos medir nesse ciclo?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86517-FB29-4088-9A15-112FEABB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66B"/>
          </a:solidFill>
          <a:ln xmlns:a="http://schemas.openxmlformats.org/drawingml/2006/main" w="0">
            <a:solidFill>
              <a:srgbClr val="B7F6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7E327-4EC4-4F8A-BA27-A935E2CC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Quem acompanha a ativação e os próximos passos?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1be01f52c4241"/>
          <a:srcRect xmlns:a="http://schemas.openxmlformats.org/drawingml/2006/main" l="24107" t="0" r="241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9550" y="1657350"/>
            <a:ext cx="3314700" cy="3600450"/>
          </a:xfrm>
          <a:prstGeom xmlns:a="http://schemas.openxmlformats.org/drawingml/2006/main" prst="roundRect">
            <a:avLst>
              <a:gd name="adj" fmla="val 574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CE121-E177-4092-8C3B-178B073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1F2A6"/>
                </a:solidFill>
              </a:defRPr>
            </a:pPr>
            <a:r>
              <a:rPr sz="1800" b="1">
                <a:solidFill>
                  <a:srgbClr val="71F2A6"/>
                </a:solidFill>
              </a:rPr>
              <a:t>maestramanager.com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D1CCE-23D8-44B0-BEAD-C2250FAD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47D"/>
                </a:solidFill>
              </a:defRPr>
            </a:pPr>
            <a:r>
              <a:rPr sz="900" b="1">
                <a:solidFill>
                  <a:srgbClr val="71847D"/>
                </a:solidFill>
              </a:rPr>
              <a:t>Maestra 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0A6F5-8E8E-4BA1-8AE9-395984EB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47D"/>
                </a:solidFill>
              </a:defRPr>
            </a:pPr>
            <a:r>
              <a:rPr sz="1050" b="0">
                <a:solidFill>
                  <a:srgbClr val="71847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924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2026-08-14T19:48:22.7700000Z</dcterms:created>
  <dcterms:modified xsi:type="dcterms:W3CDTF">2026-08-14T19:48:22.7700000Z</dcterms:modified>
</coreProperties>
</file>