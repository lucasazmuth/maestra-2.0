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b1789d6584dba" /><Relationship Type="http://schemas.openxmlformats.org/officeDocument/2006/relationships/extended-properties" Target="/docProps/app.xml" Id="R1be28cdc463b41f9" /><Relationship Type="http://schemas.openxmlformats.org/officeDocument/2006/relationships/officeDocument" Target="/ppt/presentation.xml" Id="R298020878eed47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cce5663156411a"/>
  </p:sldMasterIdLst>
  <p:notesMasterIdLst>
    <p:notesMasterId xmlns:r="http://schemas.openxmlformats.org/officeDocument/2006/relationships" r:id="Rc9518207e65b4835"/>
  </p:notesMasterIdLst>
  <p:sldIdLst>
    <p:sldId xmlns:r="http://schemas.openxmlformats.org/officeDocument/2006/relationships" id="256" r:id="R66d808e167bf46f9"/>
    <p:sldId xmlns:r="http://schemas.openxmlformats.org/officeDocument/2006/relationships" id="257" r:id="R80ba2bac7a484bda"/>
    <p:sldId xmlns:r="http://schemas.openxmlformats.org/officeDocument/2006/relationships" id="258" r:id="R33262f7be60a4727"/>
    <p:sldId xmlns:r="http://schemas.openxmlformats.org/officeDocument/2006/relationships" id="259" r:id="Rf5f8b8d0e43a4807"/>
    <p:sldId xmlns:r="http://schemas.openxmlformats.org/officeDocument/2006/relationships" id="260" r:id="R91d428f536fd4209"/>
    <p:sldId xmlns:r="http://schemas.openxmlformats.org/officeDocument/2006/relationships" id="261" r:id="Ra98f91510376407f"/>
    <p:sldId xmlns:r="http://schemas.openxmlformats.org/officeDocument/2006/relationships" id="262" r:id="R3cd54633a16f478e"/>
    <p:sldId xmlns:r="http://schemas.openxmlformats.org/officeDocument/2006/relationships" id="263" r:id="Re57fa790e53f430d"/>
    <p:sldId xmlns:r="http://schemas.openxmlformats.org/officeDocument/2006/relationships" id="264" r:id="Rdfd47f25a014432c"/>
    <p:sldId xmlns:r="http://schemas.openxmlformats.org/officeDocument/2006/relationships" id="265" r:id="R36af554efeea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e62dcc4ad24278" /><Relationship Type="http://schemas.openxmlformats.org/officeDocument/2006/relationships/slideMaster" Target="/ppt/slideMasters/slideMaster1.xml" Id="Rbecce5663156411a" /><Relationship Type="http://schemas.openxmlformats.org/officeDocument/2006/relationships/notesMaster" Target="/ppt/notesMasters/notesMaster1.xml" Id="Rc9518207e65b4835" /><Relationship Type="http://schemas.openxmlformats.org/officeDocument/2006/relationships/presProps" Target="/ppt/presProps.xml" Id="R1e7568c1b7644a6b" /><Relationship Type="http://schemas.openxmlformats.org/officeDocument/2006/relationships/tableStyles" Target="/ppt/tableStyles.xml" Id="R24b2aa9045984ef3" /><Relationship Type="http://schemas.openxmlformats.org/officeDocument/2006/relationships/slide" Target="/ppt/slides/slide1.xml" Id="R66d808e167bf46f9" /><Relationship Type="http://schemas.openxmlformats.org/officeDocument/2006/relationships/slide" Target="/ppt/slides/slide2.xml" Id="R80ba2bac7a484bda" /><Relationship Type="http://schemas.openxmlformats.org/officeDocument/2006/relationships/slide" Target="/ppt/slides/slide3.xml" Id="R33262f7be60a4727" /><Relationship Type="http://schemas.openxmlformats.org/officeDocument/2006/relationships/slide" Target="/ppt/slides/slide4.xml" Id="Rf5f8b8d0e43a4807" /><Relationship Type="http://schemas.openxmlformats.org/officeDocument/2006/relationships/slide" Target="/ppt/slides/slide5.xml" Id="R91d428f536fd4209" /><Relationship Type="http://schemas.openxmlformats.org/officeDocument/2006/relationships/slide" Target="/ppt/slides/slide6.xml" Id="Ra98f91510376407f" /><Relationship Type="http://schemas.openxmlformats.org/officeDocument/2006/relationships/slide" Target="/ppt/slides/slide7.xml" Id="R3cd54633a16f478e" /><Relationship Type="http://schemas.openxmlformats.org/officeDocument/2006/relationships/slide" Target="/ppt/slides/slide8.xml" Id="Re57fa790e53f430d" /><Relationship Type="http://schemas.openxmlformats.org/officeDocument/2006/relationships/slide" Target="/ppt/slides/slide9.xml" Id="Rdfd47f25a014432c" /><Relationship Type="http://schemas.openxmlformats.org/officeDocument/2006/relationships/slide" Target="/ppt/slides/slide10.xml" Id="R36af554efeea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62306c61e9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a45294ec334168" /><Relationship Type="http://schemas.openxmlformats.org/officeDocument/2006/relationships/notesMaster" Target="/ppt/notesMasters/notesMaster1.xml" Id="R967c310aaf924d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a53d1da934320" /><Relationship Type="http://schemas.openxmlformats.org/officeDocument/2006/relationships/notesMaster" Target="/ppt/notesMasters/notesMaster1.xml" Id="R70e4ffa4c6b242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8b50949e44a15" /><Relationship Type="http://schemas.openxmlformats.org/officeDocument/2006/relationships/notesMaster" Target="/ppt/notesMasters/notesMaster1.xml" Id="R5a7fbd2b5b8249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61d2cf6a94ee4" /><Relationship Type="http://schemas.openxmlformats.org/officeDocument/2006/relationships/notesMaster" Target="/ppt/notesMasters/notesMaster1.xml" Id="Rd22c213b37c6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66cf7be0f0487a" /><Relationship Type="http://schemas.openxmlformats.org/officeDocument/2006/relationships/notesMaster" Target="/ppt/notesMasters/notesMaster1.xml" Id="R3fd9d539d11a47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67445db6d740ee" /><Relationship Type="http://schemas.openxmlformats.org/officeDocument/2006/relationships/notesMaster" Target="/ppt/notesMasters/notesMaster1.xml" Id="R7b42c0eca1a943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31d454641649fa" /><Relationship Type="http://schemas.openxmlformats.org/officeDocument/2006/relationships/notesMaster" Target="/ppt/notesMasters/notesMaster1.xml" Id="Rd03b412891e041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8547133f2a41be" /><Relationship Type="http://schemas.openxmlformats.org/officeDocument/2006/relationships/notesMaster" Target="/ppt/notesMasters/notesMaster1.xml" Id="Rc4dc735a703849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99b8f751404ad4" /><Relationship Type="http://schemas.openxmlformats.org/officeDocument/2006/relationships/notesMaster" Target="/ppt/notesMasters/notesMaster1.xml" Id="R8335ca816ae547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0ab48aba88482d" /><Relationship Type="http://schemas.openxmlformats.org/officeDocument/2006/relationships/notesMaster" Target="/ppt/notesMasters/notesMaster1.xml" Id="R4b77ea7c70e145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posicionando a Maestra como infraestrutura de desenvolvimento de carreira para uso B2B.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public/brand/maestra-wordmark-light.png</a:t>
            </a:r>
          </a:p>
          <a:p xmlns:a="http://schemas.openxmlformats.org/drawingml/2006/main">
            <a:r>
              <a:t>- prints-registro-v2/02-maestra-manager/02-dashboard.png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Enquadrar o problema pelo ângulo do parceiro: volume, visibilidade e cadência.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seção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 Maestra como ciclo de desenvolvimento, não como chatbot ou dashboard isolado.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seções 3 e 4</a:t>
            </a:r>
          </a:p>
          <a:p xmlns:a="http://schemas.openxmlformats.org/drawingml/2006/main">
            <a:r>
              <a:t>- maestra-landing/src/pages/Home.tsx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o diagnóstico dá uma linguagem comum para priorizar o próximo ciclo do artista.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docs/DIAGNOSTICO_REAL_V2.md, seções 1 e 2</a:t>
            </a:r>
          </a:p>
          <a:p xmlns:a="http://schemas.openxmlformats.org/drawingml/2006/main">
            <a:r>
              <a:t>- prints-registro-v2/01-diagnostico-real/03-resultado-perfil.png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slide para vender método e execução, não só automação.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maestra-landing/src/pages/Home.tsx</a:t>
            </a:r>
          </a:p>
          <a:p xmlns:a="http://schemas.openxmlformats.org/drawingml/2006/main">
            <a:r>
              <a:t>- MODELO-DE-NEGOCIO.md, seção 4</a:t>
            </a:r>
          </a:p>
          <a:p xmlns:a="http://schemas.openxmlformats.org/drawingml/2006/main">
            <a:r>
              <a:t>- prints-registro-v2/02-maestra-manager/03-planejamento.png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 IA como assistente operacional em contexto, com ferramentas conectadas ao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docs/FREEMIUM-E-NYTA.md, seção 3</a:t>
            </a:r>
          </a:p>
          <a:p xmlns:a="http://schemas.openxmlformats.org/drawingml/2006/main">
            <a:r>
              <a:t>- prints-registro-v2/03-nyta/02-assistente-pro-aberta.png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os módulos de gestão ao valor para parceiros: visibilidade e rotina.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seção 4</a:t>
            </a:r>
          </a:p>
          <a:p xmlns:a="http://schemas.openxmlformats.org/drawingml/2006/main">
            <a:r>
              <a:t>- prints-registro-v2/02-maestra-manager/05-catalogo-rascunhos.png</a:t>
            </a:r>
          </a:p>
          <a:p xmlns:a="http://schemas.openxmlformats.org/drawingml/2006/main">
            <a:r>
              <a:t>- prints-registro-v2/02-maestra-manager/07-agenda.png</a:t>
            </a:r>
          </a:p>
          <a:p xmlns:a="http://schemas.openxmlformats.org/drawingml/2006/main">
            <a:r>
              <a:t>- prints-registro-v2/02-maestra-manager/08-equipe.png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estes como territórios de conversa para BD, ajustando exemplos conforme o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seções 5 e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evita travar em preço logo no começo e orienta a call para desenho de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MODELO-DE-NEGOCIO.md, seções 6 e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com perguntas que movem a conversa para piloto e próximos critérios de sucesso.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maestra-landing/src/config.ts</a:t>
            </a:r>
          </a:p>
          <a:p xmlns:a="http://schemas.openxmlformats.org/drawingml/2006/main">
            <a:r>
              <a:t>- prints-registro-v2/02-maestra-manager/01-artistas.png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e4219972644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9532d167424496" /><Relationship Type="http://schemas.openxmlformats.org/officeDocument/2006/relationships/slideLayout" Target="/ppt/slideLayouts/slideLayout1.xml" Id="R5086d274e1e0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6d274e1e0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68f4bbc954ceb" /><Relationship Type="http://schemas.openxmlformats.org/officeDocument/2006/relationships/image" Target="/ppt/media/image.png" Id="Rb907c63fb6fa4191" /><Relationship Type="http://schemas.openxmlformats.org/officeDocument/2006/relationships/image" Target="/ppt/media/image2.png" Id="R0b1ac493e6144650" /><Relationship Type="http://schemas.openxmlformats.org/officeDocument/2006/relationships/notesSlide" Target="/ppt/notesSlides/notesSlide1.xml" Id="R95a6f18947944b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141304f5742ca" /><Relationship Type="http://schemas.openxmlformats.org/officeDocument/2006/relationships/notesSlide" Target="/ppt/notesSlides/notesSlide2.xml" Id="R0961dcbd18834f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34d7e709143cc" /><Relationship Type="http://schemas.openxmlformats.org/officeDocument/2006/relationships/notesSlide" Target="/ppt/notesSlides/notesSlide3.xml" Id="Rc5ea7c9ae23742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c15ea29034f4d" /><Relationship Type="http://schemas.openxmlformats.org/officeDocument/2006/relationships/image" Target="/ppt/media/image3.png" Id="R2794d44aff364531" /><Relationship Type="http://schemas.openxmlformats.org/officeDocument/2006/relationships/notesSlide" Target="/ppt/notesSlides/notesSlide4.xml" Id="R4a5304a7926c48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142f2ecc043e7" /><Relationship Type="http://schemas.openxmlformats.org/officeDocument/2006/relationships/image" Target="/ppt/media/image4.png" Id="R2b504fb811574537" /><Relationship Type="http://schemas.openxmlformats.org/officeDocument/2006/relationships/notesSlide" Target="/ppt/notesSlides/notesSlide5.xml" Id="Re566b32c98cb48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1bd1fa8d34353" /><Relationship Type="http://schemas.openxmlformats.org/officeDocument/2006/relationships/image" Target="/ppt/media/image5.png" Id="R47d9f30e03c74259" /><Relationship Type="http://schemas.openxmlformats.org/officeDocument/2006/relationships/notesSlide" Target="/ppt/notesSlides/notesSlide6.xml" Id="R7e7be4cbccfc44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8ff34ba784852" /><Relationship Type="http://schemas.openxmlformats.org/officeDocument/2006/relationships/image" Target="/ppt/media/image6.png" Id="R22975c930fce4822" /><Relationship Type="http://schemas.openxmlformats.org/officeDocument/2006/relationships/image" Target="/ppt/media/image7.png" Id="Ra61dec9495dc4190" /><Relationship Type="http://schemas.openxmlformats.org/officeDocument/2006/relationships/image" Target="/ppt/media/image8.png" Id="R20ffae6cc3f745f0" /><Relationship Type="http://schemas.openxmlformats.org/officeDocument/2006/relationships/notesSlide" Target="/ppt/notesSlides/notesSlide7.xml" Id="Rcc2497e2b08548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87332ef7c4547" /><Relationship Type="http://schemas.openxmlformats.org/officeDocument/2006/relationships/notesSlide" Target="/ppt/notesSlides/notesSlide8.xml" Id="Rc61febcfc39347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b18aa12ed4cf1" /><Relationship Type="http://schemas.openxmlformats.org/officeDocument/2006/relationships/notesSlide" Target="/ppt/notesSlides/notesSlide9.xml" Id="R8ffa195022114c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c1c004dda4545" /><Relationship Type="http://schemas.openxmlformats.org/officeDocument/2006/relationships/image" Target="/ppt/media/image9.png" Id="R426ed6d0f04e4fac" /><Relationship Type="http://schemas.openxmlformats.org/officeDocument/2006/relationships/image" Target="/ppt/media/image10.png" Id="R0a13f2b8496c4fb8" /><Relationship Type="http://schemas.openxmlformats.org/officeDocument/2006/relationships/notesSlide" Target="/ppt/notesSlides/notesSlide10.xml" Id="Radbbcb3975884e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7c63fb6fa4191"/>
          <a:stretch xmlns:a="http://schemas.openxmlformats.org/drawingml/2006/main"/>
        </p:blipFill>
        <p:spPr>
          <a:xfrm xmlns:a="http://schemas.openxmlformats.org/drawingml/2006/main">
            <a:off x="685800" y="673663"/>
            <a:ext cx="2857500" cy="55767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49621-8988-422C-B28E-1FED91D1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47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AF7F0"/>
                </a:solidFill>
              </a:defRPr>
            </a:pPr>
            <a:r>
              <a:rPr sz="3900" b="1">
                <a:solidFill>
                  <a:srgbClr val="EAF7F0"/>
                </a:solidFill>
              </a:rPr>
              <a:t>A camada de estratégia para desenvolver artistas em escala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01F3A-1A79-4166-815F-E0C7390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581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9B2"/>
                </a:solidFill>
              </a:defRPr>
            </a:pPr>
            <a:r>
              <a:rPr sz="1800" b="0">
                <a:solidFill>
                  <a:srgbClr val="AAB9B2"/>
                </a:solidFill>
              </a:rPr>
              <a:t>Diagnóstico, planejamento, IA e gestão em uma plataforma para parceiros que precisam acompanhar muitos artistas sem perder método.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0CF6D-E3D9-4947-B804-E436044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ac493e6144650"/>
          <a:srcRect xmlns:a="http://schemas.openxmlformats.org/drawingml/2006/main" l="26375" t="0" r="26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904875"/>
            <a:ext cx="4000500" cy="47625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</p:spTree>
    <p:extLst>
      <p:ext uri="{BB962C8B-B14F-4D97-AF65-F5344CB8AC3E}">
        <p14:creationId xmlns:p14="http://schemas.microsoft.com/office/powerpoint/2010/main" val="914222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4B2B5-3F51-42BE-96A8-45B514E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O gargalo B2B não é acesso ao artista. É acompanhamento com método.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FBAB2-1090-49C6-84BE-215563E4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Parceiros musicais precisam transformar interesse em evolução mensurável, repetível e fácil de operar.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50E55-D08A-4412-B95F-B47B587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25E24-1D53-4B7D-A8D0-4F3F4E55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57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F7F0"/>
                </a:solidFill>
              </a:defRPr>
            </a:pPr>
            <a:r>
              <a:rPr sz="2100" b="1">
                <a:solidFill>
                  <a:srgbClr val="EAF7F0"/>
                </a:solidFill>
              </a:rPr>
              <a:t>Muitos artistas, pouco tempo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414D4-CD27-46BD-9145-3AA0F039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9B2"/>
                </a:solidFill>
              </a:defRPr>
            </a:pPr>
            <a:r>
              <a:rPr sz="1500" b="0">
                <a:solidFill>
                  <a:srgbClr val="AAB9B2"/>
                </a:solidFill>
              </a:rPr>
              <a:t>Times de BD, aceleração, distribuição e comunidade precisam orientar rosters inteiros sem virar consultoria manual para cada caso.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B0773-E09D-4518-A592-D6DE6E14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solidFill>
              <a:srgbClr val="25D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D7A63-6420-44E0-A7D2-EA5C2235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38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F7F0"/>
                </a:solidFill>
              </a:defRPr>
            </a:pPr>
            <a:r>
              <a:rPr sz="2100" b="1">
                <a:solidFill>
                  <a:srgbClr val="EAF7F0"/>
                </a:solidFill>
              </a:rPr>
              <a:t>Dados espalhados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3C36B-36EF-4F39-BF56-4555894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9B2"/>
                </a:solidFill>
              </a:defRPr>
            </a:pPr>
            <a:r>
              <a:rPr sz="1500" b="0">
                <a:solidFill>
                  <a:srgbClr val="AAB9B2"/>
                </a:solidFill>
              </a:rPr>
              <a:t>Spotify, catálogo, agenda, objetivos e tarefas costumam viver em ferramentas separadas, dificultando priorização.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93B6D-898A-43CA-9062-9CDE2FA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solidFill>
              <a:srgbClr val="B7F6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8D2D7-3B91-4BD6-BE3E-8CB6DB86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9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F7F0"/>
                </a:solidFill>
              </a:defRPr>
            </a:pPr>
            <a:r>
              <a:rPr sz="2100" b="1">
                <a:solidFill>
                  <a:srgbClr val="EAF7F0"/>
                </a:solidFill>
              </a:rPr>
              <a:t>Execução sem cadência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422A4-CA54-4A04-9267-658A1507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386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9B2"/>
                </a:solidFill>
              </a:defRPr>
            </a:pPr>
            <a:r>
              <a:rPr sz="1500" b="0">
                <a:solidFill>
                  <a:srgbClr val="AAB9B2"/>
                </a:solidFill>
              </a:rPr>
              <a:t>Mesmo quando existe diagnóstico, falta um plano vivo com prazos, responsáveis e revisão de progresso.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ADCEB-C6D9-4D05-B6AC-0370EEB9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6E812-D0AD-4AF2-A40C-29E5E553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6666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936BA-0FA5-4A92-92B4-0816F9E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Maestra conecta diagnóstico, plano e operação em um único fluxo.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E88F2-F7A4-4D7E-AE1C-C3FADE1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O parceiro não entrega só uma ferramenta: entrega um método de desenvolvimento contínuo.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940BD-E580-4D2F-B98E-C808F030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C01BE-B3A1-4F6B-BD53-C6CE16AF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0707"/>
                </a:solidFill>
              </a:defRPr>
            </a:pPr>
            <a:r>
              <a:rPr sz="2550" b="1">
                <a:solidFill>
                  <a:srgbClr val="050707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07AC0-1DE2-41C3-BB85-33CE73EE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05100"/>
            <a:ext cx="1295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D4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3800F-D6CC-45E6-B194-EAFC853C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AF7F0"/>
                </a:solidFill>
              </a:defRPr>
            </a:pPr>
            <a:r>
              <a:rPr sz="1875" b="1">
                <a:solidFill>
                  <a:srgbClr val="EAF7F0"/>
                </a:solidFill>
              </a:rPr>
              <a:t>Diagnosticar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E5000-94DD-4E14-B2F4-313AD9A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Raio-X da carreira e perfil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98FB5-FE95-47C9-BC6A-0B82FB09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479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69DE0-37E5-4843-B911-A45B3CE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0707"/>
                </a:solidFill>
              </a:defRPr>
            </a:pPr>
            <a:r>
              <a:rPr sz="2550" b="1">
                <a:solidFill>
                  <a:srgbClr val="050707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6A4F9-AC37-471C-855E-19748871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05100"/>
            <a:ext cx="1295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D4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4253A-A2DF-42D0-BF9E-09210A4F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24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AF7F0"/>
                </a:solidFill>
              </a:defRPr>
            </a:pPr>
            <a:r>
              <a:rPr sz="1875" b="1">
                <a:solidFill>
                  <a:srgbClr val="EAF7F0"/>
                </a:solidFill>
              </a:rPr>
              <a:t>Planejar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4572B-6A9F-4216-AB87-3B6590F0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0050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Objetivos, SWOT, estratégias e prioridades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1575F-79F8-4CB3-8AD0-4E7BA7C7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79578-7362-4D8E-B669-811AEE5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0707"/>
                </a:solidFill>
              </a:defRPr>
            </a:pPr>
            <a:r>
              <a:rPr sz="2550" b="1">
                <a:solidFill>
                  <a:srgbClr val="050707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7EC35-B0E8-4A1F-A2F6-3D961C34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05100"/>
            <a:ext cx="1295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D40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783EB-C807-40F5-8016-3F523992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AF7F0"/>
                </a:solidFill>
              </a:defRPr>
            </a:pPr>
            <a:r>
              <a:rPr sz="1875" b="1">
                <a:solidFill>
                  <a:srgbClr val="EAF7F0"/>
                </a:solidFill>
              </a:rPr>
              <a:t>Executar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BD32B-EB8C-4E0A-8887-299B469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Plano de ação com tarefas, prazos e responsáveis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5F15E-BC85-4512-9B1C-2E429B5B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479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1D34-B761-4A3D-ACBC-65661D3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28875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0707"/>
                </a:solidFill>
              </a:defRPr>
            </a:pPr>
            <a:r>
              <a:rPr sz="2550" b="1">
                <a:solidFill>
                  <a:srgbClr val="050707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29299-D77D-43C8-AB41-F16E23D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242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AF7F0"/>
                </a:solidFill>
              </a:defRPr>
            </a:pPr>
            <a:r>
              <a:rPr sz="1875" b="1">
                <a:solidFill>
                  <a:srgbClr val="EAF7F0"/>
                </a:solidFill>
              </a:rPr>
              <a:t>Gerir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1D1CB-8A6A-4D27-86D6-F477BCA0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0050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Catálogo, agenda, equipe e acompanhamento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73079-FE8D-4920-9191-B040064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9B14A-4185-4B5E-83CB-40527C3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5834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77638-EDA9-499C-BDE7-EAF78BA4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O Diagnóstico REAL cria uma leitura inicial comum para artista e parceiro.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D59F2-673E-44D7-BF8C-5B34691F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A carreira é avaliada em quatro dimensões e traduzida em um perfil acionável.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4d44aff364531"/>
          <a:srcRect xmlns:a="http://schemas.openxmlformats.org/drawingml/2006/main" l="700" t="0" r="7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85950"/>
            <a:ext cx="5810250" cy="3314700"/>
          </a:xfrm>
          <a:prstGeom xmlns:a="http://schemas.openxmlformats.org/drawingml/2006/main" prst="roundRect">
            <a:avLst>
              <a:gd name="adj" fmla="val 574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7E52A-B52C-4858-A258-58E4D19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1F2A6"/>
                </a:solidFill>
              </a:defRPr>
            </a:pPr>
            <a:r>
              <a:rPr sz="3150" b="1">
                <a:solidFill>
                  <a:srgbClr val="71F2A6"/>
                </a:solidFill>
              </a:rPr>
              <a:t>R · E · A · 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6ED8C-4088-40B4-8899-F0F34F5C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0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165F6-3493-4917-B421-AEF03582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Reach: alcance e descoberta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09723-A3C5-4D6F-9098-BFF68CB4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33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BAF6-2286-4EE2-8732-2234C928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480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Earnings: sinais de monetização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2DE7A-5D8E-418B-977D-C8CF5069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67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DA2CD-3F74-4A85-8C68-AE15457C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81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Audience: base e engajamento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624E7-B102-4B4F-ADC6-2EBBEA1C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00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6C699-E1C3-4B13-B6D7-E23BC6D4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148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Legitimacy: validação de mercado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FE0D3-7874-4C95-BD2F-D68F1D2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1C469-CB83-45AE-959F-CFA78CC8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3972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A4195-AFB6-4F3F-8CFC-8089841F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O planejamento transforma diagnóstico em plano executável.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6BBB0-2549-4FB6-A1CF-C9BC7274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A metodologia conduz identidade, objetivos, SWOT, estratégias, priorização e cronograma.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04fb811574537"/>
          <a:srcRect xmlns:a="http://schemas.openxmlformats.org/drawingml/2006/main" l="12812" t="0" r="128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95450"/>
            <a:ext cx="4533900" cy="34290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33E97-639C-4288-A0B8-F13425AF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AF7F0"/>
                </a:solidFill>
              </a:defRPr>
            </a:pPr>
            <a:r>
              <a:rPr sz="2325" b="1">
                <a:solidFill>
                  <a:srgbClr val="EAF7F0"/>
                </a:solidFill>
              </a:rPr>
              <a:t>Da conversa guiada ao plano de 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5BAA8-CED4-428E-B872-9B29720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A64E2-2403-49C4-8ADD-2FF89F4C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Estratégias priorizadas para o momento da carreira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C513E-572A-45B0-A952-FE7AC4D9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3D092-EA41-470D-BC0D-58F61EA4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Cronograma e tarefas com vínculo ao objetivo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F952D-BCDA-49F8-9278-C6CA71E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F942A-2077-46DE-8B51-EFB87FD8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Método próprio traduzido para linguagem simples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94EA4-5043-4AE7-B33E-863DD67A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8A097"/>
                </a:solidFill>
              </a:defRPr>
            </a:pPr>
            <a:r>
              <a:rPr sz="1200" b="0">
                <a:solidFill>
                  <a:srgbClr val="88A097"/>
                </a:solidFill>
              </a:rPr>
              <a:t>Base conceitual citada na landing: metodologia da Anita Carvalho, com mais de 30 anos de carreira e 313 planejamentos reais.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CB745-C6EA-4A63-BCE3-444063B0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FF1EE-B511-4163-A2B6-F0F11C64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0702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300C8-708F-4D93-A44C-910C9C2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Nyta IA acompanha a operação com contexto, não respostas genéricas.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75B2F-635A-44B6-8508-FCA9629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O assistente trabalha dentro do perfil do artista e pode apoiar decisões e tarefas do dia a dia.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9f30e03c74259"/>
          <a:srcRect xmlns:a="http://schemas.openxmlformats.org/drawingml/2006/main" l="10685" t="0" r="10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790700"/>
            <a:ext cx="4953000" cy="3543300"/>
          </a:xfrm>
          <a:prstGeom xmlns:a="http://schemas.openxmlformats.org/drawingml/2006/main" prst="roundRect">
            <a:avLst>
              <a:gd name="adj" fmla="val 537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DD7F0-281F-4A13-9B2F-3010C79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7F0"/>
                </a:solidFill>
              </a:defRPr>
            </a:pPr>
            <a:r>
              <a:rPr sz="2250" b="1">
                <a:solidFill>
                  <a:srgbClr val="EAF7F0"/>
                </a:solidFill>
              </a:rPr>
              <a:t>O que o parceiro ganha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FE140-0CC4-4FA8-8185-55BF487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6419B-E2E9-4F34-881F-0AEC36EA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Suporte recorrente para dúvidas, marketing e execução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2ADC8-2FE1-457F-BFAD-F34518FF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6F26D-2497-47BD-9FD5-F8ACDE98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Memória do perfil, plano, tarefas e agenda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CD899-AD4F-4404-A409-6D2A99DE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7D4F7-D65D-4DC1-832F-33F042B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Ações operacionais: criar tarefas, eventos e itens de catálogo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27453-1092-40D1-9446-A9E5E95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3BD7E-53FE-4F9A-84FB-B60F21F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644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26716-2EEE-4D45-9A8C-39C23ACB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O Manager centraliza a rotina que sustenta o plano.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3782-5D38-473E-BA6A-6335FFD1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Catálogo, agenda, equipe e dashboard reduzem a distância entre estratégia e acompanhamento.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75c930fce4822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924050"/>
            <a:ext cx="3048000" cy="20002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C6C0D-F9F1-4D7E-8E8B-7FFACEB9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AF7F0"/>
                </a:solidFill>
              </a:defRPr>
            </a:pPr>
            <a:r>
              <a:rPr sz="1800" b="1">
                <a:solidFill>
                  <a:srgbClr val="EAF7F0"/>
                </a:solidFill>
              </a:rPr>
              <a:t>Catálogo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dec9495dc4190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1924050"/>
            <a:ext cx="3048000" cy="20002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CD204-A0EC-4391-8402-CA5B63BA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AF7F0"/>
                </a:solidFill>
              </a:defRPr>
            </a:pPr>
            <a:r>
              <a:rPr sz="1800" b="1">
                <a:solidFill>
                  <a:srgbClr val="EAF7F0"/>
                </a:solidFill>
              </a:rPr>
              <a:t>Agenda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fae6cc3f745f0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7600" y="1924050"/>
            <a:ext cx="3048000" cy="20002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0A58B-9A88-49A6-B50B-D13EEBCB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AF7F0"/>
                </a:solidFill>
              </a:defRPr>
            </a:pPr>
            <a:r>
              <a:rPr sz="1800" b="1">
                <a:solidFill>
                  <a:srgbClr val="EAF7F0"/>
                </a:solidFill>
              </a:rPr>
              <a:t>Equipe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4C876-7CA6-4314-9900-7D9F054A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76850"/>
            <a:ext cx="796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AB9B2"/>
                </a:solidFill>
              </a:defRPr>
            </a:pPr>
            <a:r>
              <a:rPr sz="1575" b="0">
                <a:solidFill>
                  <a:srgbClr val="AAB9B2"/>
                </a:solidFill>
              </a:rPr>
              <a:t>A plataforma vira um registro vivo do ciclo: o que foi diagnosticado, o que foi planejado e o que está em execução.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94783-42C2-496A-B482-3D44F2B0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19048-B41B-4BF3-A00A-1AF1EB7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78213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6BAD1-FC73-4490-B831-F53E78B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Para B2B, Maestra pode operar como plataforma de desenvolvimento de roster.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C615D-BDCA-4352-83FB-6ABD654C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A mesma base atende parceiros com diferentes relações com artistas.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636D4-9495-4EDA-B1CA-E4F4EB3B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572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D40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FEECB-C454-4964-9CCF-6F790654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F2A6"/>
                </a:solidFill>
              </a:defRPr>
            </a:pPr>
            <a:r>
              <a:rPr sz="1800" b="1">
                <a:solidFill>
                  <a:srgbClr val="71F2A6"/>
                </a:solidFill>
              </a:rPr>
              <a:t>Distribuidoras e DSP 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9197A-9721-408C-ABDF-D79EA7E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B2"/>
                </a:solidFill>
              </a:defRPr>
            </a:pPr>
            <a:r>
              <a:rPr sz="1275" b="0">
                <a:solidFill>
                  <a:srgbClr val="AAB9B2"/>
                </a:solidFill>
              </a:rPr>
              <a:t>Onboarding estratégico para artistas da base e sinalização de oportunidades.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09380-4E49-40D8-B3AC-4DA2401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572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D4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30BBA-EA76-4ED9-A4E1-0DBAA47B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0"/>
                </a:solidFill>
              </a:defRPr>
            </a:pPr>
            <a:r>
              <a:rPr sz="1800" b="1">
                <a:solidFill>
                  <a:srgbClr val="EAF7F0"/>
                </a:solidFill>
              </a:rPr>
              <a:t>Labels, escritórios e assessorias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4802C-D521-4C70-AD8E-ED25D81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B2"/>
                </a:solidFill>
              </a:defRPr>
            </a:pPr>
            <a:r>
              <a:rPr sz="1275" b="0">
                <a:solidFill>
                  <a:srgbClr val="AAB9B2"/>
                </a:solidFill>
              </a:rPr>
              <a:t>Gestão de múltiplos perfis com visão comum de plano, agenda, catálogo e tarefas.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37B85-E023-4A92-A859-77198D3E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572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D4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D25C0-8C2C-4095-ACF9-D8934ADD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0"/>
                </a:solidFill>
              </a:defRPr>
            </a:pPr>
            <a:r>
              <a:rPr sz="1800" b="1">
                <a:solidFill>
                  <a:srgbClr val="EAF7F0"/>
                </a:solidFill>
              </a:rPr>
              <a:t>Aceleradoras e programas públicos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D8748-CE21-47ED-BE99-7A2E667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B2"/>
                </a:solidFill>
              </a:defRPr>
            </a:pPr>
            <a:r>
              <a:rPr sz="1275" b="0">
                <a:solidFill>
                  <a:srgbClr val="AAB9B2"/>
                </a:solidFill>
              </a:rPr>
              <a:t>Turmas de artistas com diagnóstico inicial, trilha de ação e acompanhamento.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3E4CA-8793-4828-BDF4-1C00640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4572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0B1210"/>
          </a:solidFill>
          <a:ln xmlns:a="http://schemas.openxmlformats.org/drawingml/2006/main" w="9525">
            <a:solidFill>
              <a:srgbClr val="2D4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A8450-75B6-43DD-AB4A-D65755EE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0"/>
                </a:solidFill>
              </a:defRPr>
            </a:pPr>
            <a:r>
              <a:rPr sz="1800" b="1">
                <a:solidFill>
                  <a:srgbClr val="EAF7F0"/>
                </a:solidFill>
              </a:rPr>
              <a:t>Educação e comunidades musicais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B8C01-A0B9-4E8C-BBAD-5A2C74A3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B2"/>
                </a:solidFill>
              </a:defRPr>
            </a:pPr>
            <a:r>
              <a:rPr sz="1275" b="0">
                <a:solidFill>
                  <a:srgbClr val="AAB9B2"/>
                </a:solidFill>
              </a:rPr>
              <a:t>Ferramenta prática para transformar conteúdo em plano aplicado à carreira.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ED540-1C3D-447E-A0E2-0B62DB7F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33B54-27AA-47E7-BDB2-67607A02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3715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1A7B0-700C-4EFD-86D4-442F686C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7F0"/>
                </a:solidFill>
              </a:defRPr>
            </a:pPr>
            <a:r>
              <a:rPr sz="2850" b="1">
                <a:solidFill>
                  <a:srgbClr val="EAF7F0"/>
                </a:solidFill>
              </a:rPr>
              <a:t>A conversa comercial pode começar por um piloto simples.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D031D-03FA-4A0E-A558-D6608CC0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O objetivo é provar ativação, qualidade do plano e recorrência de uso antes de discutir escala.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B2C57-F74B-4815-BC48-30AA2195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5A857-9E1F-4DF9-B728-E19C6D1C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0707"/>
                </a:solidFill>
              </a:defRPr>
            </a:pPr>
            <a:r>
              <a:rPr sz="2175" b="1">
                <a:solidFill>
                  <a:srgbClr val="050707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457AF-EDB6-438F-80F8-A7676C2A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7F0"/>
                </a:solidFill>
              </a:defRPr>
            </a:pPr>
            <a:r>
              <a:rPr sz="1950" b="1">
                <a:solidFill>
                  <a:srgbClr val="EAF7F0"/>
                </a:solidFill>
              </a:rPr>
              <a:t>Recorte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19553-B53B-4585-96B6-5074FF22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Escolher segmento, tamanho de turma ou roster e perfil ideal de artista.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63287-97C3-4E59-BCA1-30B6DE1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9382F-F967-42DB-85C1-CE3ED369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0707"/>
                </a:solidFill>
              </a:defRPr>
            </a:pPr>
            <a:r>
              <a:rPr sz="2175" b="1">
                <a:solidFill>
                  <a:srgbClr val="050707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AB446-FA98-4035-A55E-16D72676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71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7F0"/>
                </a:solidFill>
              </a:defRPr>
            </a:pPr>
            <a:r>
              <a:rPr sz="1950" b="1">
                <a:solidFill>
                  <a:srgbClr val="EAF7F0"/>
                </a:solidFill>
              </a:rPr>
              <a:t>Ativação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6763E-4527-493F-98E5-DF787BF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4810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Conduzir cadastro, Diagnóstico REAL e primeiro plano de 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C40C2-5DD6-4832-B71E-A460714D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669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F92F5-DA2A-49C4-92E9-B722A47C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193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0707"/>
                </a:solidFill>
              </a:defRPr>
            </a:pPr>
            <a:r>
              <a:rPr sz="2175" b="1">
                <a:solidFill>
                  <a:srgbClr val="050707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C1064-5BF7-4C4C-B66C-8866B70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7F0"/>
                </a:solidFill>
              </a:defRPr>
            </a:pPr>
            <a:r>
              <a:rPr sz="1950" b="1">
                <a:solidFill>
                  <a:srgbClr val="EAF7F0"/>
                </a:solidFill>
              </a:rPr>
              <a:t>Acompanhamento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D301A-DE08-4DF0-AA29-EC1570C5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9B2"/>
                </a:solidFill>
              </a:defRPr>
            </a:pPr>
            <a:r>
              <a:rPr sz="1350" b="0">
                <a:solidFill>
                  <a:srgbClr val="AAB9B2"/>
                </a:solidFill>
              </a:rPr>
              <a:t>Medir adesão, tarefas criadas, uso da Nyta e próximos ciclos.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E9F3D-0C50-484B-8BB3-B4342BE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05450"/>
            <a:ext cx="798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AB9B2"/>
                </a:solidFill>
              </a:defRPr>
            </a:pPr>
            <a:r>
              <a:rPr sz="1425" b="0">
                <a:solidFill>
                  <a:srgbClr val="AAB9B2"/>
                </a:solidFill>
              </a:rPr>
              <a:t>Modelos de parceria podem ser definidos caso a caso: licença por cohort, pacote para roster, ação patrocinada ou parceria de distribuição/benefícios.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45FD4-C63C-48C1-B3A7-5763569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C1E5F-C02E-440F-9676-0C4797D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9692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ed6d0f04e4fac"/>
          <a:stretch xmlns:a="http://schemas.openxmlformats.org/drawingml/2006/main"/>
        </p:blipFill>
        <p:spPr>
          <a:xfrm xmlns:a="http://schemas.openxmlformats.org/drawingml/2006/main">
            <a:off x="685800" y="653692"/>
            <a:ext cx="2476500" cy="48331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0EDE3-0A30-46AA-86FF-7F73B4B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6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7F0"/>
                </a:solidFill>
              </a:defRPr>
            </a:pPr>
            <a:r>
              <a:rPr sz="3450" b="1">
                <a:solidFill>
                  <a:srgbClr val="EAF7F0"/>
                </a:solidFill>
              </a:rPr>
              <a:t>Próximo passo: desenhar o piloto com o cliente na própria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9FF8-EC39-4CD5-9C67-E11BF204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F44B4-8063-4069-AEDA-61CBDECE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Qual roster, turma ou comunidade entra primeiro?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0260A-ECEF-413D-8956-CC9F3A0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0FC8D-98A9-4E4C-8EA3-940AB2C8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Que evolução do artista o cliente quer provar?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69CBA-501E-4037-81A0-CF2B7EA9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F2A6"/>
          </a:solidFill>
          <a:ln xmlns:a="http://schemas.openxmlformats.org/drawingml/2006/main" w="0">
            <a:solidFill>
              <a:srgbClr val="71F2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71037-D429-4C34-8EA8-A780B216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0"/>
                </a:solidFill>
              </a:defRPr>
            </a:pPr>
            <a:r>
              <a:rPr sz="1500" b="0">
                <a:solidFill>
                  <a:srgbClr val="EAF7F0"/>
                </a:solidFill>
              </a:rPr>
              <a:t>Quem acompanha resultados e ativa próximos ciclos?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3f2b8496c4fb8"/>
          <a:srcRect xmlns:a="http://schemas.openxmlformats.org/drawingml/2006/main" l="26202" t="0" r="262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1600200"/>
            <a:ext cx="3143250" cy="371475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0D5A2-5184-4743-825C-3199C3C0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1F2A6"/>
                </a:solidFill>
              </a:defRPr>
            </a:pPr>
            <a:r>
              <a:rPr sz="1650" b="1">
                <a:solidFill>
                  <a:srgbClr val="71F2A6"/>
                </a:solidFill>
              </a:rPr>
              <a:t>maestramanager.com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EE132-2F21-45D6-99A8-8BB09A21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7B"/>
                </a:solidFill>
              </a:defRPr>
            </a:pPr>
            <a:r>
              <a:rPr sz="900" b="1">
                <a:solidFill>
                  <a:srgbClr val="6F837B"/>
                </a:solidFill>
              </a:rPr>
              <a:t>Maestra 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536AC-9FE4-41BA-BA6D-DA74243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837B"/>
                </a:solidFill>
              </a:defRPr>
            </a:pPr>
            <a:r>
              <a:rPr sz="1050" b="0">
                <a:solidFill>
                  <a:srgbClr val="6F837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9766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2026-08-14T19:41:42.9810000Z</dcterms:created>
  <dcterms:modified xsi:type="dcterms:W3CDTF">2026-08-14T19:41:42.9820000Z</dcterms:modified>
</coreProperties>
</file>